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7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685800"/>
            <a:ext cx="1060704" cy="1060704"/>
          </a:xfrm>
          <a:prstGeom prst="ellipse">
            <a:avLst/>
          </a:prstGeom>
          <a:solidFill>
            <a:srgbClr val="2EA8A5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950976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תחרות הרובוטים</a:t>
            </a:r>
            <a:endParaRPr lang="he-IL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7843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he-IL" altLang="en-US" sz="15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MATLAB</a:t>
            </a:r>
            <a:endParaRPr lang="en-US" altLang="en-US" sz="1500" dirty="0">
              <a:solidFill>
                <a:srgbClr val="9FB0C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 rtl="1"/>
            <a:r>
              <a:rPr lang="he-IL" sz="1500" dirty="0">
                <a:solidFill>
                  <a:srgbClr val="9FB0CC"/>
                </a:solidFill>
                <a:latin typeface="Arial" pitchFamily="34" charset="0"/>
                <a:cs typeface="Arial" pitchFamily="34" charset="-120"/>
              </a:rPr>
              <a:t>המגישים: בשאר חוסין , ריאן צואן </a:t>
            </a:r>
            <a:br>
              <a:rPr lang="en-US" sz="1500" dirty="0">
                <a:solidFill>
                  <a:srgbClr val="9FB0CC"/>
                </a:solidFill>
                <a:latin typeface="Arial" pitchFamily="34" charset="0"/>
                <a:cs typeface="Arial" pitchFamily="34" charset="-120"/>
              </a:rPr>
            </a:br>
            <a:r>
              <a:rPr lang="he-IL" sz="1500" dirty="0">
                <a:solidFill>
                  <a:srgbClr val="9FB0CC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he-IL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4251960"/>
            <a:ext cx="365760" cy="3657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2519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4279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 = חיים</a:t>
            </a:r>
            <a:endParaRPr lang="he-IL" sz="1100" dirty="0"/>
          </a:p>
        </p:txBody>
      </p:sp>
      <p:sp>
        <p:nvSpPr>
          <p:cNvPr id="10" name="Text 5"/>
          <p:cNvSpPr/>
          <p:nvPr/>
        </p:nvSpPr>
        <p:spPr>
          <a:xfrm>
            <a:off x="7223760" y="4279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10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מוקש = סכנה</a:t>
            </a:r>
            <a:endParaRPr lang="he-IL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566928" cy="566928"/>
          </a:xfrm>
          <a:prstGeom prst="ellipse">
            <a:avLst/>
          </a:prstGeom>
          <a:solidFill>
            <a:srgbClr val="F2A33C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43434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מיכל דלק חכמה</a:t>
            </a:r>
            <a:endParaRPr lang="he-IL" sz="2800" dirty="0"/>
          </a:p>
        </p:txBody>
      </p:sp>
      <p:sp>
        <p:nvSpPr>
          <p:cNvPr id="5" name="Shape 2"/>
          <p:cNvSpPr/>
          <p:nvPr/>
        </p:nvSpPr>
        <p:spPr>
          <a:xfrm>
            <a:off x="4937760" y="1143000"/>
            <a:ext cx="3749040" cy="1371600"/>
          </a:xfrm>
          <a:prstGeom prst="roundRect">
            <a:avLst>
              <a:gd name="adj" fmla="val 6000"/>
            </a:avLst>
          </a:prstGeom>
          <a:solidFill>
            <a:srgbClr val="16243D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51206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F2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ציון לכל מיכל:</a:t>
            </a:r>
            <a:endParaRPr lang="he-IL" sz="1400" dirty="0"/>
          </a:p>
        </p:txBody>
      </p:sp>
      <p:sp>
        <p:nvSpPr>
          <p:cNvPr id="7" name="Text 4"/>
          <p:cNvSpPr/>
          <p:nvPr/>
        </p:nvSpPr>
        <p:spPr>
          <a:xfrm>
            <a:off x="5120640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myDist − 0.3 · opDist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11887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Char char="•"/>
            </a:pPr>
            <a:r>
              <a:rPr lang="he-IL" sz="1400" dirty="0"/>
              <a:t>לא בוחרים סתם את המיכל הקרוב ביותר </a:t>
            </a:r>
          </a:p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Char char="•"/>
            </a:pPr>
            <a:r>
              <a:rPr lang="he-IL" sz="1400" dirty="0"/>
              <a:t>כל מיכל מקבל ציון והוא מרחק שלנו אליו , פחות בונוס אם היריב רחוק ממנו </a:t>
            </a:r>
          </a:p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Char char="•"/>
            </a:pPr>
            <a:r>
              <a:rPr lang="he-IL" sz="1400" dirty="0"/>
              <a:t>מיכל שהיריב יגיע אליו לפנינו מקבל ציון גרוע </a:t>
            </a:r>
          </a:p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he-IL" sz="1400" dirty="0"/>
              <a:t>הסבר למשוואה: </a:t>
            </a:r>
          </a:p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he-IL" sz="1400" dirty="0"/>
              <a:t>המרחק שלנו </a:t>
            </a:r>
            <a:r>
              <a:rPr lang="he-IL" sz="1400" dirty="0" err="1"/>
              <a:t>מהמיכל</a:t>
            </a:r>
            <a:r>
              <a:rPr lang="he-IL" sz="1400" dirty="0"/>
              <a:t> (</a:t>
            </a:r>
            <a:r>
              <a:rPr lang="he-IL" sz="1400" dirty="0" err="1"/>
              <a:t>my</a:t>
            </a:r>
            <a:r>
              <a:rPr lang="en-US" sz="1400" dirty="0" err="1"/>
              <a:t>Dist</a:t>
            </a:r>
            <a:r>
              <a:rPr lang="he-IL" sz="1400" dirty="0"/>
              <a:t>) </a:t>
            </a:r>
          </a:p>
          <a:p>
            <a:pPr marL="342900" indent="-342900" algn="r" defTabSz="914400" rtl="1" eaLnBrk="1" latinLnBrk="0" hangingPunct="1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he-IL" sz="1400" dirty="0"/>
              <a:t>המרחק של היריב אל אותו מיכל(</a:t>
            </a:r>
            <a:r>
              <a:rPr lang="en-US" sz="1400" dirty="0" err="1"/>
              <a:t>opDist</a:t>
            </a:r>
            <a:r>
              <a:rPr lang="he-IL" sz="1400" dirty="0"/>
              <a:t>)</a:t>
            </a:r>
          </a:p>
        </p:txBody>
      </p:sp>
      <p:sp>
        <p:nvSpPr>
          <p:cNvPr id="9" name="Shape 6"/>
          <p:cNvSpPr/>
          <p:nvPr/>
        </p:nvSpPr>
        <p:spPr>
          <a:xfrm>
            <a:off x="6035040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58952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172200" y="3456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חירום</a:t>
            </a:r>
            <a:endParaRPr lang="he-IL" sz="1400" dirty="0"/>
          </a:p>
        </p:txBody>
      </p:sp>
      <p:sp>
        <p:nvSpPr>
          <p:cNvPr id="12" name="Text 9"/>
          <p:cNvSpPr/>
          <p:nvPr/>
        </p:nvSpPr>
        <p:spPr>
          <a:xfrm>
            <a:off x="6172200" y="4005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100" dirty="0">
                <a:solidFill>
                  <a:srgbClr val="4A5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לזה — רצים מיד לדלק בלי שיקולים אחרים.</a:t>
            </a:r>
            <a:endParaRPr lang="he-IL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475488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337560" y="3456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אזור נוחות</a:t>
            </a:r>
            <a:endParaRPr lang="he-IL" sz="1400" dirty="0"/>
          </a:p>
        </p:txBody>
      </p:sp>
      <p:sp>
        <p:nvSpPr>
          <p:cNvPr id="16" name="Text 13"/>
          <p:cNvSpPr/>
          <p:nvPr/>
        </p:nvSpPr>
        <p:spPr>
          <a:xfrm>
            <a:off x="3337560" y="4005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100" dirty="0">
                <a:solidFill>
                  <a:srgbClr val="4A5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לזה — מתדלקים ברגע שמשתלם.</a:t>
            </a:r>
            <a:endParaRPr lang="he-IL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24612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192024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02920" y="3456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סף תקיפה</a:t>
            </a:r>
            <a:endParaRPr lang="he-IL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4005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100" dirty="0">
                <a:solidFill>
                  <a:srgbClr val="4A5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 דלק כזה מעל היריב פותח מצב תקיפה.</a:t>
            </a:r>
            <a:endParaRPr lang="he-IL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566928" cy="566928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43434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חיזוי היריב ויירוט</a:t>
            </a:r>
            <a:endParaRPr lang="he-IL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344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554480"/>
            <a:ext cx="384048" cy="38404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15468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4612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היריב</a:t>
            </a:r>
            <a:endParaRPr lang="he-IL" sz="1000" dirty="0"/>
          </a:p>
        </p:txBody>
      </p:sp>
      <p:sp>
        <p:nvSpPr>
          <p:cNvPr id="9" name="Shape 4"/>
          <p:cNvSpPr/>
          <p:nvPr/>
        </p:nvSpPr>
        <p:spPr>
          <a:xfrm>
            <a:off x="1508760" y="1920240"/>
            <a:ext cx="2011680" cy="1371600"/>
          </a:xfrm>
          <a:prstGeom prst="line">
            <a:avLst/>
          </a:prstGeom>
          <a:noFill/>
          <a:ln w="22225">
            <a:solidFill>
              <a:srgbClr val="5B6B85"/>
            </a:solidFill>
            <a:prstDash val="dash"/>
            <a:headEnd type="arrow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5"/>
          <p:cNvSpPr/>
          <p:nvPr/>
        </p:nvSpPr>
        <p:spPr>
          <a:xfrm>
            <a:off x="2377440" y="2423160"/>
            <a:ext cx="274320" cy="274320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6"/>
          <p:cNvSpPr/>
          <p:nvPr/>
        </p:nvSpPr>
        <p:spPr>
          <a:xfrm>
            <a:off x="18288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000" b="1" dirty="0">
                <a:solidFill>
                  <a:srgbClr val="D64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נקודת היירוט</a:t>
            </a:r>
            <a:endParaRPr lang="he-IL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004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</a:t>
            </a:r>
            <a:endParaRPr lang="he-IL" sz="1000" dirty="0"/>
          </a:p>
        </p:txBody>
      </p:sp>
      <p:sp>
        <p:nvSpPr>
          <p:cNvPr id="14" name="Shape 8"/>
          <p:cNvSpPr/>
          <p:nvPr/>
        </p:nvSpPr>
        <p:spPr>
          <a:xfrm flipV="1">
            <a:off x="1417320" y="2679192"/>
            <a:ext cx="914400" cy="566928"/>
          </a:xfrm>
          <a:prstGeom prst="line">
            <a:avLst/>
          </a:prstGeom>
          <a:noFill/>
          <a:ln w="28575">
            <a:solidFill>
              <a:srgbClr val="D64541"/>
            </a:solidFill>
            <a:prstDash val="solid"/>
            <a:tailEnd type="arrow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9"/>
          <p:cNvSpPr/>
          <p:nvPr/>
        </p:nvSpPr>
        <p:spPr>
          <a:xfrm>
            <a:off x="4572000" y="132588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2" algn="r" rtl="1">
              <a:spcAft>
                <a:spcPts val="1000"/>
              </a:spcAft>
              <a:buSzPct val="100000"/>
            </a:pPr>
            <a:endParaRPr lang="he-IL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3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היתרון: מקצרים את המרדף — פחות צעדים, פחות דלק שנשרף, והיריב מגיע למפגש עם פחות דלק .</a:t>
            </a:r>
            <a:endParaRPr lang="he-IL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87205-B6C7-F9E3-678D-A11AE74EBCB6}"/>
              </a:ext>
            </a:extLst>
          </p:cNvPr>
          <p:cNvSpPr txBox="1"/>
          <p:nvPr/>
        </p:nvSpPr>
        <p:spPr>
          <a:xfrm>
            <a:off x="4572000" y="1325880"/>
            <a:ext cx="41749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אם היריב קרוב למיכל דלק יותר מאיתנו מניחים שהוא בדרך אליו.</a:t>
            </a:r>
            <a:endParaRPr lang="en-US" dirty="0"/>
          </a:p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מחשבים את כיוון התנועה שלו וצופים 3 צעדים קדימה.</a:t>
            </a:r>
          </a:p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במצב תקיפה: מכוונים אל הנקודה העתידית לא אל המיקום הנוכחי(נקודת היירוט).</a:t>
            </a:r>
          </a:p>
          <a:p>
            <a:pPr algn="r" defTabSz="914400" rtl="1" eaLnBrk="1" latinLnBrk="0" hangingPunct="1"/>
            <a:endParaRPr lang="en-I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566928" cy="566928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43434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תוקפים? רק כשהמתמטיקה מסכימה</a:t>
            </a:r>
            <a:endParaRPr lang="he-IL" sz="2800" dirty="0"/>
          </a:p>
        </p:txBody>
      </p:sp>
      <p:sp>
        <p:nvSpPr>
          <p:cNvPr id="5" name="Shape 2"/>
          <p:cNvSpPr/>
          <p:nvPr/>
        </p:nvSpPr>
        <p:spPr>
          <a:xfrm>
            <a:off x="6035040" y="1143000"/>
            <a:ext cx="2651760" cy="224028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8119872" y="1307592"/>
            <a:ext cx="402336" cy="402336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40817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632" y="130759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 מוכח</a:t>
            </a:r>
            <a:endParaRPr lang="he-IL" sz="1400" dirty="0"/>
          </a:p>
        </p:txBody>
      </p:sp>
      <p:sp>
        <p:nvSpPr>
          <p:cNvPr id="9" name="Text 5"/>
          <p:cNvSpPr/>
          <p:nvPr/>
        </p:nvSpPr>
        <p:spPr>
          <a:xfrm>
            <a:off x="6199632" y="17647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150" dirty="0">
                <a:solidFill>
                  <a:srgbClr val="333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יתרון דלק של 70 ומעלה — וגם אחרי שמחשבים כמה דלק יישרף עד שנגיע ליריב, נשאר יתרון חזוי של 20 ומעלה. החישוב מבוסס על קצב השריפה הנמדד בפועל.</a:t>
            </a:r>
            <a:endParaRPr lang="he-IL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40817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64992" y="17647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endParaRPr lang="he-IL" sz="1150" dirty="0"/>
          </a:p>
        </p:txBody>
      </p:sp>
      <p:sp>
        <p:nvSpPr>
          <p:cNvPr id="15" name="Shape 10"/>
          <p:cNvSpPr/>
          <p:nvPr/>
        </p:nvSpPr>
        <p:spPr>
          <a:xfrm>
            <a:off x="3118104" y="1143000"/>
            <a:ext cx="2651760" cy="224028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6" name="Shape 11"/>
          <p:cNvSpPr/>
          <p:nvPr/>
        </p:nvSpPr>
        <p:spPr>
          <a:xfrm>
            <a:off x="5317236" y="1307592"/>
            <a:ext cx="402336" cy="402336"/>
          </a:xfrm>
          <a:prstGeom prst="ellipse">
            <a:avLst/>
          </a:prstGeom>
          <a:solidFill>
            <a:srgbClr val="2EA8A5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3596" y="141732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42716" y="130759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הזדמנות מקומית</a:t>
            </a:r>
            <a:endParaRPr lang="he-IL" sz="1400" dirty="0"/>
          </a:p>
        </p:txBody>
      </p:sp>
      <p:sp>
        <p:nvSpPr>
          <p:cNvPr id="19" name="Text 13"/>
          <p:cNvSpPr/>
          <p:nvPr/>
        </p:nvSpPr>
        <p:spPr>
          <a:xfrm>
            <a:off x="3364992" y="176695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150" dirty="0">
                <a:solidFill>
                  <a:srgbClr val="333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היריב במרחק קטן מ־2 ויש לנו יתרון של 25 פלוס ? סוגרים עליו מיד ומסיימים את המשחק ביתרון.</a:t>
            </a:r>
            <a:endParaRPr lang="he-IL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611880"/>
            <a:ext cx="8046720" cy="1005840"/>
          </a:xfrm>
          <a:prstGeom prst="roundRect">
            <a:avLst>
              <a:gd name="adj" fmla="val 8182"/>
            </a:avLst>
          </a:prstGeom>
          <a:solidFill>
            <a:srgbClr val="16243D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5"/>
          <p:cNvSpPr/>
          <p:nvPr/>
        </p:nvSpPr>
        <p:spPr>
          <a:xfrm>
            <a:off x="914400" y="3611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העיקרון: לא תוקפים מתוך רגש. תוקפים רק כשהחישוב מבטיח שנגיע למפגש עם יותר דלק — כי זה מה שקובע את הניצחון.</a:t>
            </a:r>
            <a:endParaRPr lang="he-IL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566928" cy="566928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43434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הימנעות ממוקשים — מכל המוקשים</a:t>
            </a:r>
            <a:endParaRPr lang="he-IL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3657600" cy="2834640"/>
          </a:xfrm>
          <a:prstGeom prst="roundRect">
            <a:avLst>
              <a:gd name="adj" fmla="val 2581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 flipV="1">
            <a:off x="1051560" y="1965960"/>
            <a:ext cx="2834640" cy="1691640"/>
          </a:xfrm>
          <a:prstGeom prst="line">
            <a:avLst/>
          </a:prstGeom>
          <a:noFill/>
          <a:ln w="19050">
            <a:solidFill>
              <a:srgbClr val="5B6B8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4"/>
          <p:cNvSpPr/>
          <p:nvPr/>
        </p:nvSpPr>
        <p:spPr>
          <a:xfrm>
            <a:off x="2103120" y="2240280"/>
            <a:ext cx="868680" cy="868680"/>
          </a:xfrm>
          <a:prstGeom prst="ellipse">
            <a:avLst/>
          </a:prstGeom>
          <a:solidFill>
            <a:srgbClr val="F6D7D5"/>
          </a:solidFill>
          <a:ln w="19050">
            <a:solidFill>
              <a:srgbClr val="D64541"/>
            </a:solidFill>
            <a:prstDash val="sysDash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2496312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flipV="1">
            <a:off x="1051560" y="2011680"/>
            <a:ext cx="960120" cy="1645920"/>
          </a:xfrm>
          <a:prstGeom prst="line">
            <a:avLst/>
          </a:prstGeom>
          <a:noFill/>
          <a:ln w="31750">
            <a:solidFill>
              <a:srgbClr val="2EA8A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6"/>
          <p:cNvSpPr/>
          <p:nvPr/>
        </p:nvSpPr>
        <p:spPr>
          <a:xfrm flipV="1">
            <a:off x="2011680" y="1828800"/>
            <a:ext cx="1874520" cy="182880"/>
          </a:xfrm>
          <a:prstGeom prst="line">
            <a:avLst/>
          </a:prstGeom>
          <a:noFill/>
          <a:ln w="31750">
            <a:solidFill>
              <a:srgbClr val="2EA8A5"/>
            </a:solidFill>
            <a:prstDash val="solid"/>
            <a:tailEnd type="arrow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201168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000" b="1" dirty="0">
                <a:solidFill>
                  <a:srgbClr val="2EA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עוקף בטוח</a:t>
            </a:r>
            <a:endParaRPr lang="he-IL" sz="1000" dirty="0"/>
          </a:p>
        </p:txBody>
      </p:sp>
      <p:sp>
        <p:nvSpPr>
          <p:cNvPr id="12" name="Text 8"/>
          <p:cNvSpPr/>
          <p:nvPr/>
        </p:nvSpPr>
        <p:spPr>
          <a:xfrm>
            <a:off x="196596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המסלול הישיר — פוגע במוקש</a:t>
            </a:r>
            <a:endParaRPr lang="he-IL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35023-C038-3978-513E-C39CAB566AD9}"/>
              </a:ext>
            </a:extLst>
          </p:cNvPr>
          <p:cNvSpPr txBox="1"/>
          <p:nvPr/>
        </p:nvSpPr>
        <p:spPr>
          <a:xfrm>
            <a:off x="4572000" y="1251284"/>
            <a:ext cx="4224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בדיקה גיאומטרית מדויקת .</a:t>
            </a:r>
          </a:p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מטפלים קודם במוקש המסוכן ביותר.</a:t>
            </a:r>
          </a:p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סוטים סביבו.</a:t>
            </a:r>
          </a:p>
          <a:p>
            <a:pPr marL="285750" indent="-285750" algn="r" defTabSz="9144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אפס פגיעות בקיר (גבולות החלון).</a:t>
            </a:r>
            <a:endParaRPr lang="en-I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566928" cy="566928"/>
          </a:xfrm>
          <a:prstGeom prst="ellipse">
            <a:avLst/>
          </a:prstGeom>
          <a:solidFill>
            <a:srgbClr val="2EA8A5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43434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8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הישרדות והגנה</a:t>
            </a:r>
            <a:endParaRPr lang="he-IL" sz="2800" dirty="0"/>
          </a:p>
        </p:txBody>
      </p:sp>
      <p:sp>
        <p:nvSpPr>
          <p:cNvPr id="5" name="Shape 2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8119872" y="1353312"/>
            <a:ext cx="402336" cy="402336"/>
          </a:xfrm>
          <a:prstGeom prst="ellipse">
            <a:avLst/>
          </a:prstGeom>
          <a:solidFill>
            <a:srgbClr val="5B6B85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45389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632" y="13533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תקיעה ופריצה</a:t>
            </a:r>
            <a:endParaRPr lang="he-IL" sz="1400" dirty="0"/>
          </a:p>
        </p:txBody>
      </p:sp>
      <p:sp>
        <p:nvSpPr>
          <p:cNvPr id="9" name="Text 5"/>
          <p:cNvSpPr/>
          <p:nvPr/>
        </p:nvSpPr>
        <p:spPr>
          <a:xfrm>
            <a:off x="6199632" y="181051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sz="1200" dirty="0"/>
              <a:t>הרובוט משווה בכל תור את מיקומו למיקום הקודם אם הוא זז פחות כנראה נלכד בין מוקשים , במצב כזה הוא בודק את כיווני היציאה והולך לפי הכיוון הטוב ביותר.</a:t>
            </a:r>
          </a:p>
        </p:txBody>
      </p:sp>
      <p:sp>
        <p:nvSpPr>
          <p:cNvPr id="10" name="Shape 6"/>
          <p:cNvSpPr/>
          <p:nvPr/>
        </p:nvSpPr>
        <p:spPr>
          <a:xfrm>
            <a:off x="3200400" y="118872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7"/>
          <p:cNvSpPr/>
          <p:nvPr/>
        </p:nvSpPr>
        <p:spPr>
          <a:xfrm>
            <a:off x="5285232" y="1353312"/>
            <a:ext cx="402336" cy="402336"/>
          </a:xfrm>
          <a:prstGeom prst="ellipse">
            <a:avLst/>
          </a:prstGeom>
          <a:solidFill>
            <a:srgbClr val="16243D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45389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64992" y="13533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בריחה חכמה לפינה</a:t>
            </a:r>
            <a:endParaRPr lang="he-IL" sz="1400" dirty="0"/>
          </a:p>
        </p:txBody>
      </p:sp>
      <p:sp>
        <p:nvSpPr>
          <p:cNvPr id="14" name="Text 9"/>
          <p:cNvSpPr/>
          <p:nvPr/>
        </p:nvSpPr>
        <p:spPr>
          <a:xfrm>
            <a:off x="3364992" y="181051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333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כשהיריב חזק מאיתנו — בורחים לפינה. כלומר: הפינה הכי קרובה אלינו והכי רחוקה ממנו.</a:t>
            </a:r>
            <a:endParaRPr lang="he-IL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1188720"/>
            <a:ext cx="2651760" cy="2743200"/>
          </a:xfrm>
          <a:prstGeom prst="roundRect">
            <a:avLst>
              <a:gd name="adj" fmla="val 2414"/>
            </a:avLst>
          </a:prstGeom>
          <a:solidFill>
            <a:srgbClr val="F4F6FA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1"/>
          <p:cNvSpPr/>
          <p:nvPr/>
        </p:nvSpPr>
        <p:spPr>
          <a:xfrm>
            <a:off x="2450592" y="1353312"/>
            <a:ext cx="402336" cy="402336"/>
          </a:xfrm>
          <a:prstGeom prst="ellipse">
            <a:avLst/>
          </a:prstGeom>
          <a:solidFill>
            <a:srgbClr val="F2A33C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76" y="145389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" y="13533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b="1" dirty="0">
                <a:solidFill>
                  <a:srgbClr val="16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מודעות לקצב השריפה</a:t>
            </a:r>
            <a:endParaRPr lang="he-IL" sz="1400" dirty="0"/>
          </a:p>
        </p:txBody>
      </p:sp>
      <p:sp>
        <p:nvSpPr>
          <p:cNvPr id="19" name="Text 13"/>
          <p:cNvSpPr/>
          <p:nvPr/>
        </p:nvSpPr>
        <p:spPr>
          <a:xfrm>
            <a:off x="530352" y="1810512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333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הרובוט עוקב בכל תור כמה דלק נשרף בפועל, ומשתמש בנתון הזה כדי לחשב אם מרדף משתלם. החלטות על סמך מדידה אמיתית .</a:t>
            </a:r>
            <a:endParaRPr lang="he-IL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AF8BB-F795-3657-6B93-73B5F2C1B620}"/>
              </a:ext>
            </a:extLst>
          </p:cNvPr>
          <p:cNvSpPr txBox="1"/>
          <p:nvPr/>
        </p:nvSpPr>
        <p:spPr>
          <a:xfrm>
            <a:off x="145914" y="4261104"/>
            <a:ext cx="876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מוות פתאומי : אין דלק במפה ואנחנו מאחור? עצירה מוחלטת והיריב ישלם בדלק שלו על כל ניסיון </a:t>
            </a:r>
            <a:endParaRPr lang="en-I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9724" y="381642"/>
            <a:ext cx="822960" cy="822960"/>
          </a:xfrm>
          <a:prstGeom prst="ellipse">
            <a:avLst/>
          </a:prstGeom>
          <a:solidFill>
            <a:srgbClr val="F2A33C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58738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6132" y="138050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האסטרטגיה הזו מנצחת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6382516" y="2312469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1A2A47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7168896" y="2432064"/>
            <a:ext cx="438912" cy="438912"/>
          </a:xfrm>
          <a:prstGeom prst="ellipse">
            <a:avLst/>
          </a:prstGeom>
          <a:solidFill>
            <a:srgbClr val="F2A33C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2542513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9379" y="299057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כלכלת דלק לפני הכול</a:t>
            </a:r>
            <a:endParaRPr lang="he-IL" sz="1350" dirty="0"/>
          </a:p>
        </p:txBody>
      </p:sp>
      <p:sp>
        <p:nvSpPr>
          <p:cNvPr id="10" name="Shape 6"/>
          <p:cNvSpPr/>
          <p:nvPr/>
        </p:nvSpPr>
        <p:spPr>
          <a:xfrm>
            <a:off x="4178810" y="2312469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1A2A47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1" name="Shape 7"/>
          <p:cNvSpPr/>
          <p:nvPr/>
        </p:nvSpPr>
        <p:spPr>
          <a:xfrm>
            <a:off x="4951476" y="2432785"/>
            <a:ext cx="438912" cy="438912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4" y="2542513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0250" y="295303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תקיפה רק בוודאות</a:t>
            </a:r>
            <a:endParaRPr lang="he-IL" sz="1350" dirty="0"/>
          </a:p>
        </p:txBody>
      </p:sp>
      <p:sp>
        <p:nvSpPr>
          <p:cNvPr id="15" name="Shape 10"/>
          <p:cNvSpPr/>
          <p:nvPr/>
        </p:nvSpPr>
        <p:spPr>
          <a:xfrm>
            <a:off x="1975104" y="228600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1A2A47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6" name="Shape 11"/>
          <p:cNvSpPr/>
          <p:nvPr/>
        </p:nvSpPr>
        <p:spPr>
          <a:xfrm>
            <a:off x="2670048" y="2468880"/>
            <a:ext cx="438912" cy="438912"/>
          </a:xfrm>
          <a:prstGeom prst="ellipse">
            <a:avLst/>
          </a:prstGeom>
          <a:solidFill>
            <a:srgbClr val="2EA8A5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6380" y="257860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75104" y="297637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ניווט בטוח</a:t>
            </a:r>
            <a:endParaRPr lang="he-IL" sz="1350" dirty="0"/>
          </a:p>
        </p:txBody>
      </p:sp>
      <p:sp>
        <p:nvSpPr>
          <p:cNvPr id="25" name="Text 18"/>
          <p:cNvSpPr/>
          <p:nvPr/>
        </p:nvSpPr>
        <p:spPr>
          <a:xfrm>
            <a:off x="770021" y="441173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rgbClr val="F2A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 על ההקשבה!</a:t>
            </a:r>
            <a:endParaRPr lang="he-IL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428</Words>
  <Application>Microsoft Macintosh PowerPoint</Application>
  <PresentationFormat>On-screen Show (16:9)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אסטרטגיית הרובוט - תחרות הרובוטים</dc:title>
  <dc:subject>PptxGenJS Presentation</dc:subject>
  <dc:creator>PptxGenJS</dc:creator>
  <cp:lastModifiedBy>בשאר חוסין</cp:lastModifiedBy>
  <cp:revision>4</cp:revision>
  <dcterms:created xsi:type="dcterms:W3CDTF">2026-06-10T16:10:56Z</dcterms:created>
  <dcterms:modified xsi:type="dcterms:W3CDTF">2026-06-11T09:32:29Z</dcterms:modified>
</cp:coreProperties>
</file>